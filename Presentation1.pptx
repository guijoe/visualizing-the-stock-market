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K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9"/>
  </p:normalViewPr>
  <p:slideViewPr>
    <p:cSldViewPr snapToGrid="0">
      <p:cViewPr>
        <p:scale>
          <a:sx n="100" d="100"/>
          <a:sy n="100" d="100"/>
        </p:scale>
        <p:origin x="102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ADB875-CE5A-0844-A41A-393F95743671}" type="datetimeFigureOut">
              <a:rPr lang="en-KW" smtClean="0"/>
              <a:t>09/02/2026</a:t>
            </a:fld>
            <a:endParaRPr lang="en-K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0808A4-773F-C94D-8C01-54C4B17F61F7}" type="slidenum">
              <a:rPr lang="en-KW" smtClean="0"/>
              <a:t>‹#›</a:t>
            </a:fld>
            <a:endParaRPr lang="en-KW"/>
          </a:p>
        </p:txBody>
      </p:sp>
    </p:spTree>
    <p:extLst>
      <p:ext uri="{BB962C8B-B14F-4D97-AF65-F5344CB8AC3E}">
        <p14:creationId xmlns:p14="http://schemas.microsoft.com/office/powerpoint/2010/main" val="2148345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0808A4-773F-C94D-8C01-54C4B17F61F7}" type="slidenum">
              <a:rPr lang="en-KW" smtClean="0"/>
              <a:t>7</a:t>
            </a:fld>
            <a:endParaRPr lang="en-KW"/>
          </a:p>
        </p:txBody>
      </p:sp>
    </p:spTree>
    <p:extLst>
      <p:ext uri="{BB962C8B-B14F-4D97-AF65-F5344CB8AC3E}">
        <p14:creationId xmlns:p14="http://schemas.microsoft.com/office/powerpoint/2010/main" val="881695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354A-2D77-2B82-F109-13B9C4A98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76188-102B-F9FF-60E7-9BC094078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574A9-DE6A-246B-C6C5-9CCB62909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4B03-C42B-DD43-A15E-1776A55E27E2}" type="datetimeFigureOut">
              <a:rPr lang="en-KW" smtClean="0"/>
              <a:t>09/02/2026</a:t>
            </a:fld>
            <a:endParaRPr lang="en-K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86C7C-7D72-FC47-4D63-F1A17104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C1787-C494-CEC7-826E-CDCD47DF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05AA-B591-964F-AB3E-CA0626E0FC30}" type="slidenum">
              <a:rPr lang="en-KW" smtClean="0"/>
              <a:t>‹#›</a:t>
            </a:fld>
            <a:endParaRPr lang="en-KW"/>
          </a:p>
        </p:txBody>
      </p:sp>
    </p:spTree>
    <p:extLst>
      <p:ext uri="{BB962C8B-B14F-4D97-AF65-F5344CB8AC3E}">
        <p14:creationId xmlns:p14="http://schemas.microsoft.com/office/powerpoint/2010/main" val="100449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4156F-D847-B42D-6767-B6832F63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ED408-C068-384C-9673-D7C581FF5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80EEE-F5DB-504D-8469-17AB61220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4B03-C42B-DD43-A15E-1776A55E27E2}" type="datetimeFigureOut">
              <a:rPr lang="en-KW" smtClean="0"/>
              <a:t>09/02/2026</a:t>
            </a:fld>
            <a:endParaRPr lang="en-K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13C6F-7078-8F8F-BAEF-654F206B6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30669-72B0-7DF9-B648-4209C51D4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05AA-B591-964F-AB3E-CA0626E0FC30}" type="slidenum">
              <a:rPr lang="en-KW" smtClean="0"/>
              <a:t>‹#›</a:t>
            </a:fld>
            <a:endParaRPr lang="en-KW"/>
          </a:p>
        </p:txBody>
      </p:sp>
    </p:spTree>
    <p:extLst>
      <p:ext uri="{BB962C8B-B14F-4D97-AF65-F5344CB8AC3E}">
        <p14:creationId xmlns:p14="http://schemas.microsoft.com/office/powerpoint/2010/main" val="19554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C49D7-3E44-1A81-A39A-99B2676D3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759B8-5F96-4DB4-C888-F47E2AAAB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91DD4-84E2-A6B0-7DB0-1C6DD41DA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4B03-C42B-DD43-A15E-1776A55E27E2}" type="datetimeFigureOut">
              <a:rPr lang="en-KW" smtClean="0"/>
              <a:t>09/02/2026</a:t>
            </a:fld>
            <a:endParaRPr lang="en-K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6389E-30A7-76E4-0F8F-547B227E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48F57-649C-0393-A5D3-506F7907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05AA-B591-964F-AB3E-CA0626E0FC30}" type="slidenum">
              <a:rPr lang="en-KW" smtClean="0"/>
              <a:t>‹#›</a:t>
            </a:fld>
            <a:endParaRPr lang="en-KW"/>
          </a:p>
        </p:txBody>
      </p:sp>
    </p:spTree>
    <p:extLst>
      <p:ext uri="{BB962C8B-B14F-4D97-AF65-F5344CB8AC3E}">
        <p14:creationId xmlns:p14="http://schemas.microsoft.com/office/powerpoint/2010/main" val="417779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873BD-8E36-829D-4FC1-D53FC87E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7CD24-33BC-91D5-7C37-90F2700D1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F472F-C5AD-DD73-81DD-8BD22D78F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1ACBE-749F-3A34-1101-89E21BD8F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4B03-C42B-DD43-A15E-1776A55E27E2}" type="datetimeFigureOut">
              <a:rPr lang="en-KW" smtClean="0"/>
              <a:t>09/02/2026</a:t>
            </a:fld>
            <a:endParaRPr lang="en-K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90432-A9BA-D409-D1D2-9A18D933A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FFFD9-B0EF-1E32-E9D7-20307F9D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05AA-B591-964F-AB3E-CA0626E0FC30}" type="slidenum">
              <a:rPr lang="en-KW" smtClean="0"/>
              <a:t>‹#›</a:t>
            </a:fld>
            <a:endParaRPr lang="en-KW"/>
          </a:p>
        </p:txBody>
      </p:sp>
    </p:spTree>
    <p:extLst>
      <p:ext uri="{BB962C8B-B14F-4D97-AF65-F5344CB8AC3E}">
        <p14:creationId xmlns:p14="http://schemas.microsoft.com/office/powerpoint/2010/main" val="2380266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279F7-F9A8-1348-026B-6E835A04C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8EBAC-2F22-B877-42C3-EA7115666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74C3E-CF0D-B1BB-27DD-5C3D58F9B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E493CB-B451-4B0E-931D-7E176B0C9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A6061E-1BFE-631C-0B26-57292FBB9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3D2FBD-6A02-6788-011C-135471A63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4B03-C42B-DD43-A15E-1776A55E27E2}" type="datetimeFigureOut">
              <a:rPr lang="en-KW" smtClean="0"/>
              <a:t>09/02/2026</a:t>
            </a:fld>
            <a:endParaRPr lang="en-K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5C09A4-D98A-E88E-0622-DB3F11AB0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97397-7190-C5CB-D0DC-DFC0DEBE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05AA-B591-964F-AB3E-CA0626E0FC30}" type="slidenum">
              <a:rPr lang="en-KW" smtClean="0"/>
              <a:t>‹#›</a:t>
            </a:fld>
            <a:endParaRPr lang="en-KW"/>
          </a:p>
        </p:txBody>
      </p:sp>
    </p:spTree>
    <p:extLst>
      <p:ext uri="{BB962C8B-B14F-4D97-AF65-F5344CB8AC3E}">
        <p14:creationId xmlns:p14="http://schemas.microsoft.com/office/powerpoint/2010/main" val="1382041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109F7-9BC4-2D82-CBD1-6BB6907D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24B33B-352E-A6D1-2DB5-386664810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4B03-C42B-DD43-A15E-1776A55E27E2}" type="datetimeFigureOut">
              <a:rPr lang="en-KW" smtClean="0"/>
              <a:t>09/02/2026</a:t>
            </a:fld>
            <a:endParaRPr lang="en-K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23C646-1178-28D5-C354-FDB0DC80C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83F040-0CB6-2A84-0C8E-B1F08518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05AA-B591-964F-AB3E-CA0626E0FC30}" type="slidenum">
              <a:rPr lang="en-KW" smtClean="0"/>
              <a:t>‹#›</a:t>
            </a:fld>
            <a:endParaRPr lang="en-KW"/>
          </a:p>
        </p:txBody>
      </p:sp>
    </p:spTree>
    <p:extLst>
      <p:ext uri="{BB962C8B-B14F-4D97-AF65-F5344CB8AC3E}">
        <p14:creationId xmlns:p14="http://schemas.microsoft.com/office/powerpoint/2010/main" val="1495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603A8-584C-F04D-EF78-DFDAEE7F4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4B03-C42B-DD43-A15E-1776A55E27E2}" type="datetimeFigureOut">
              <a:rPr lang="en-KW" smtClean="0"/>
              <a:t>09/02/2026</a:t>
            </a:fld>
            <a:endParaRPr lang="en-K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ED0544-47FF-E79E-3365-7795FAE2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E39DA-449B-4A79-6CF9-7CDF0CAB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05AA-B591-964F-AB3E-CA0626E0FC30}" type="slidenum">
              <a:rPr lang="en-KW" smtClean="0"/>
              <a:t>‹#›</a:t>
            </a:fld>
            <a:endParaRPr lang="en-KW"/>
          </a:p>
        </p:txBody>
      </p:sp>
    </p:spTree>
    <p:extLst>
      <p:ext uri="{BB962C8B-B14F-4D97-AF65-F5344CB8AC3E}">
        <p14:creationId xmlns:p14="http://schemas.microsoft.com/office/powerpoint/2010/main" val="189364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DDDB2-A922-15CC-CE10-BA2711F3D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D6C85-A859-545F-A06F-0A9428365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9FB7F-6550-331A-348D-DE8BB9CD2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657E5-5342-E0CD-F3CD-5E3C2EBC0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4B03-C42B-DD43-A15E-1776A55E27E2}" type="datetimeFigureOut">
              <a:rPr lang="en-KW" smtClean="0"/>
              <a:t>09/02/2026</a:t>
            </a:fld>
            <a:endParaRPr lang="en-K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3F5FB-8EB8-2038-C248-BCF78EC72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2D6A4-7352-84DC-03CE-B09E06AA1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05AA-B591-964F-AB3E-CA0626E0FC30}" type="slidenum">
              <a:rPr lang="en-KW" smtClean="0"/>
              <a:t>‹#›</a:t>
            </a:fld>
            <a:endParaRPr lang="en-KW"/>
          </a:p>
        </p:txBody>
      </p:sp>
    </p:spTree>
    <p:extLst>
      <p:ext uri="{BB962C8B-B14F-4D97-AF65-F5344CB8AC3E}">
        <p14:creationId xmlns:p14="http://schemas.microsoft.com/office/powerpoint/2010/main" val="264966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FB3B1-3C05-0F22-CF57-5C37CFC97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C1B619-41EF-BF51-6118-674DA28EB6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67F34-4D6E-78F0-3FD1-640F3867A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0728A-42BF-CAB6-C4F5-E0B044C77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4B03-C42B-DD43-A15E-1776A55E27E2}" type="datetimeFigureOut">
              <a:rPr lang="en-KW" smtClean="0"/>
              <a:t>09/02/2026</a:t>
            </a:fld>
            <a:endParaRPr lang="en-K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4BD4D-2221-AB78-D412-B30E78E86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1B0F9-9E50-4360-0735-B13E9C5DD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05AA-B591-964F-AB3E-CA0626E0FC30}" type="slidenum">
              <a:rPr lang="en-KW" smtClean="0"/>
              <a:t>‹#›</a:t>
            </a:fld>
            <a:endParaRPr lang="en-KW"/>
          </a:p>
        </p:txBody>
      </p:sp>
    </p:spTree>
    <p:extLst>
      <p:ext uri="{BB962C8B-B14F-4D97-AF65-F5344CB8AC3E}">
        <p14:creationId xmlns:p14="http://schemas.microsoft.com/office/powerpoint/2010/main" val="114032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206AC-D0E6-DB28-28B5-67781EA21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B68A6-CF90-8186-3128-64BD8FED9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4D624-8F9B-103B-1EEC-B9CF357B6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4B03-C42B-DD43-A15E-1776A55E27E2}" type="datetimeFigureOut">
              <a:rPr lang="en-KW" smtClean="0"/>
              <a:t>09/02/2026</a:t>
            </a:fld>
            <a:endParaRPr lang="en-K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0810F-C21D-DB90-2834-C4EF5064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1396A-9FD6-8ED4-FE4E-EDE4D02B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05AA-B591-964F-AB3E-CA0626E0FC30}" type="slidenum">
              <a:rPr lang="en-KW" smtClean="0"/>
              <a:t>‹#›</a:t>
            </a:fld>
            <a:endParaRPr lang="en-KW"/>
          </a:p>
        </p:txBody>
      </p:sp>
    </p:spTree>
    <p:extLst>
      <p:ext uri="{BB962C8B-B14F-4D97-AF65-F5344CB8AC3E}">
        <p14:creationId xmlns:p14="http://schemas.microsoft.com/office/powerpoint/2010/main" val="1737643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8684BB-FB39-1C45-1341-A2825B87B8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30047-2285-6D52-555B-D44FEC248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BC46C-EE44-6BCF-D4A9-C808E3C3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4B03-C42B-DD43-A15E-1776A55E27E2}" type="datetimeFigureOut">
              <a:rPr lang="en-KW" smtClean="0"/>
              <a:t>09/02/2026</a:t>
            </a:fld>
            <a:endParaRPr lang="en-K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F613F-F8E8-D62A-836F-FDD417325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4C7F3-0D9C-8FCA-E8D6-1383447D0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05AA-B591-964F-AB3E-CA0626E0FC30}" type="slidenum">
              <a:rPr lang="en-KW" smtClean="0"/>
              <a:t>‹#›</a:t>
            </a:fld>
            <a:endParaRPr lang="en-KW"/>
          </a:p>
        </p:txBody>
      </p:sp>
    </p:spTree>
    <p:extLst>
      <p:ext uri="{BB962C8B-B14F-4D97-AF65-F5344CB8AC3E}">
        <p14:creationId xmlns:p14="http://schemas.microsoft.com/office/powerpoint/2010/main" val="1940605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AFA2C7-D256-1263-233B-AD2B55F3A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55FC5-C4B8-09F1-78C8-4DE8CF35A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AEE51-7903-A03A-6A3F-C9F402047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174B03-C42B-DD43-A15E-1776A55E27E2}" type="datetimeFigureOut">
              <a:rPr lang="en-KW" smtClean="0"/>
              <a:t>09/02/2026</a:t>
            </a:fld>
            <a:endParaRPr lang="en-K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1129E-9BAE-FF57-9AC4-3F94D0A32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5E7E8-1E19-B1C6-A520-CBA2F313E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1005AA-B591-964F-AB3E-CA0626E0FC30}" type="slidenum">
              <a:rPr lang="en-KW" smtClean="0"/>
              <a:t>‹#›</a:t>
            </a:fld>
            <a:endParaRPr lang="en-KW"/>
          </a:p>
        </p:txBody>
      </p:sp>
    </p:spTree>
    <p:extLst>
      <p:ext uri="{BB962C8B-B14F-4D97-AF65-F5344CB8AC3E}">
        <p14:creationId xmlns:p14="http://schemas.microsoft.com/office/powerpoint/2010/main" val="2052183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 shot of a graph&#10;&#10;Description automatically generated">
            <a:extLst>
              <a:ext uri="{FF2B5EF4-FFF2-40B4-BE49-F238E27FC236}">
                <a16:creationId xmlns:a16="http://schemas.microsoft.com/office/drawing/2014/main" id="{10036041-059A-81D3-E300-38D92A8F9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870" y="-80010"/>
            <a:ext cx="12378690" cy="70180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DDCFEA-E868-0976-009C-5F29559E89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Visualizing the S&amp;P 500: A Quantitative Approach</a:t>
            </a:r>
            <a:endParaRPr lang="en-KW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8D098-CBFA-67A4-0EA1-43B7DBF535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Decoding Market Structure through Hierarchical Clustering &amp; Dimensionality Reduction</a:t>
            </a:r>
            <a:endParaRPr lang="en-KW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A4D1F-5A3B-8165-C5FF-BC125B8C31F5}"/>
              </a:ext>
            </a:extLst>
          </p:cNvPr>
          <p:cNvSpPr txBox="1"/>
          <p:nvPr/>
        </p:nvSpPr>
        <p:spPr>
          <a:xfrm>
            <a:off x="331470" y="5460682"/>
            <a:ext cx="20002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W" dirty="0">
                <a:solidFill>
                  <a:schemeClr val="bg1"/>
                </a:solidFill>
              </a:rPr>
              <a:t>Team members: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W" dirty="0">
                <a:solidFill>
                  <a:schemeClr val="bg1"/>
                </a:solidFill>
              </a:rPr>
              <a:t>Yousef Sannan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W" dirty="0">
                <a:solidFill>
                  <a:schemeClr val="bg1"/>
                </a:solidFill>
              </a:rPr>
              <a:t>Eyad Wael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W" dirty="0">
                <a:solidFill>
                  <a:schemeClr val="bg1"/>
                </a:solidFill>
              </a:rPr>
              <a:t>Hadi Youssef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KW" dirty="0"/>
          </a:p>
        </p:txBody>
      </p:sp>
    </p:spTree>
    <p:extLst>
      <p:ext uri="{BB962C8B-B14F-4D97-AF65-F5344CB8AC3E}">
        <p14:creationId xmlns:p14="http://schemas.microsoft.com/office/powerpoint/2010/main" val="792926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A6F35-74E5-87FC-4916-859801B51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KW" dirty="0"/>
              <a:t>The 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8BA29-B893-0020-CECF-5C49BDE6A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The Problem:</a:t>
            </a:r>
            <a:r>
              <a:rPr lang="en-US" sz="2400" dirty="0"/>
              <a:t> The S&amp;P 500 is too complex (500 stocks × 1200 days = 600,000+ data points). Human eyes cannot see patterns in a spreadsheet that size.</a:t>
            </a:r>
          </a:p>
          <a:p>
            <a:endParaRPr lang="en-US" sz="2400" b="1" dirty="0"/>
          </a:p>
          <a:p>
            <a:r>
              <a:rPr lang="en-US" sz="2400" b="1" dirty="0"/>
              <a:t>The Goal:</a:t>
            </a:r>
            <a:r>
              <a:rPr lang="en-US" sz="2400" dirty="0"/>
              <a:t> To move beyond simple price charts and find the </a:t>
            </a:r>
            <a:r>
              <a:rPr lang="en-US" sz="2400" b="1" dirty="0"/>
              <a:t>"hidden structure"</a:t>
            </a:r>
            <a:r>
              <a:rPr lang="en-US" sz="2400" dirty="0"/>
              <a:t> of the market.</a:t>
            </a:r>
          </a:p>
          <a:p>
            <a:pPr algn="l"/>
            <a:endParaRPr lang="en-US" sz="2400" b="1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sz="2400" b="1" i="0" dirty="0">
                <a:solidFill>
                  <a:srgbClr val="000000"/>
                </a:solidFill>
                <a:effectLst/>
              </a:rPr>
              <a:t>The Tools:</a:t>
            </a:r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sz="2000" b="1" i="0" dirty="0">
                <a:solidFill>
                  <a:srgbClr val="000000"/>
                </a:solidFill>
                <a:effectLst/>
              </a:rPr>
              <a:t>Python: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 Data ingestion &amp; cleaning.</a:t>
            </a:r>
          </a:p>
          <a:p>
            <a:pPr lvl="1"/>
            <a:r>
              <a:rPr lang="en-US" sz="2000" b="1" i="0" dirty="0">
                <a:solidFill>
                  <a:srgbClr val="000000"/>
                </a:solidFill>
                <a:effectLst/>
              </a:rPr>
              <a:t>Machine Learning: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 PCA (Principal Component Analysis) &amp; t-SNE.</a:t>
            </a:r>
          </a:p>
          <a:p>
            <a:pPr lvl="1"/>
            <a:r>
              <a:rPr lang="en-US" sz="2000" b="1" i="0" dirty="0">
                <a:solidFill>
                  <a:srgbClr val="000000"/>
                </a:solidFill>
                <a:effectLst/>
              </a:rPr>
              <a:t>Visualization: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2000" b="0" i="0" dirty="0" err="1">
                <a:solidFill>
                  <a:srgbClr val="000000"/>
                </a:solidFill>
                <a:effectLst/>
              </a:rPr>
              <a:t>Plotly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 &amp; Seaborn.</a:t>
            </a:r>
          </a:p>
          <a:p>
            <a:endParaRPr lang="en-US" sz="2400" dirty="0"/>
          </a:p>
          <a:p>
            <a:endParaRPr lang="en-KW" dirty="0"/>
          </a:p>
        </p:txBody>
      </p:sp>
    </p:spTree>
    <p:extLst>
      <p:ext uri="{BB962C8B-B14F-4D97-AF65-F5344CB8AC3E}">
        <p14:creationId xmlns:p14="http://schemas.microsoft.com/office/powerpoint/2010/main" val="568460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E6014-275F-6EE8-86E5-8D715AA8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Data Integrity (The "Missingness" Map)</a:t>
            </a:r>
            <a:endParaRPr lang="en-KW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E0EEC1-4E7F-D719-02C9-FA9C4ABD7B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3153" y="1519238"/>
            <a:ext cx="9025693" cy="38195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3587DA-A4D4-6D49-2B15-D22AFE0E8F72}"/>
              </a:ext>
            </a:extLst>
          </p:cNvPr>
          <p:cNvSpPr txBox="1"/>
          <p:nvPr/>
        </p:nvSpPr>
        <p:spPr>
          <a:xfrm>
            <a:off x="678179" y="5338762"/>
            <a:ext cx="10835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We downloaded 5 years of daily data for all 503 current companies. The yellow lines represent missing data—companies like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GE HealthCare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or </a:t>
            </a:r>
            <a:r>
              <a:rPr lang="en-US" b="1" i="0" dirty="0" err="1">
                <a:solidFill>
                  <a:srgbClr val="000000"/>
                </a:solidFill>
                <a:effectLst/>
              </a:rPr>
              <a:t>Kenvue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didn't exist 5 years ago. We cannot calculate 5-year correlations for 3-year-old companies, so we cleaned the dataset by dropping these inconsistent stocks.</a:t>
            </a:r>
            <a:endParaRPr lang="en-KW" dirty="0"/>
          </a:p>
        </p:txBody>
      </p:sp>
    </p:spTree>
    <p:extLst>
      <p:ext uri="{BB962C8B-B14F-4D97-AF65-F5344CB8AC3E}">
        <p14:creationId xmlns:p14="http://schemas.microsoft.com/office/powerpoint/2010/main" val="1759450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06F3-3020-EF21-F1C8-157D37565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Volatility &amp; Risk (The "Fat Tails")</a:t>
            </a:r>
            <a:endParaRPr lang="en-KW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516042-7AAB-02C6-3055-FAFE84905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0740" y="1690688"/>
            <a:ext cx="7970520" cy="39557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9F1212-07B6-2DDC-2436-9278669125EF}"/>
              </a:ext>
            </a:extLst>
          </p:cNvPr>
          <p:cNvSpPr txBox="1"/>
          <p:nvPr/>
        </p:nvSpPr>
        <p:spPr>
          <a:xfrm>
            <a:off x="-45720" y="3206889"/>
            <a:ext cx="21564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Market returns do </a:t>
            </a:r>
            <a:r>
              <a:rPr lang="en-US" b="0" dirty="0">
                <a:solidFill>
                  <a:srgbClr val="000000"/>
                </a:solidFill>
                <a:effectLst/>
              </a:rPr>
              <a:t>not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follow a normal "Bell Curve”</a:t>
            </a:r>
            <a:endParaRPr lang="en-KW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2C271C-8767-97D3-E482-437C1C921250}"/>
              </a:ext>
            </a:extLst>
          </p:cNvPr>
          <p:cNvSpPr txBox="1"/>
          <p:nvPr/>
        </p:nvSpPr>
        <p:spPr>
          <a:xfrm>
            <a:off x="2468880" y="5646420"/>
            <a:ext cx="7254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You will see that the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Blue Bars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stick out much further to the left and right than the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Red Line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does. This visual gap is the "Fat Tail"—proof that extreme crashes happen more often than the math predicts.</a:t>
            </a:r>
            <a:endParaRPr lang="en-KW" dirty="0"/>
          </a:p>
        </p:txBody>
      </p:sp>
    </p:spTree>
    <p:extLst>
      <p:ext uri="{BB962C8B-B14F-4D97-AF65-F5344CB8AC3E}">
        <p14:creationId xmlns:p14="http://schemas.microsoft.com/office/powerpoint/2010/main" val="3012907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7071-E95E-BD8E-D812-2B64FEA88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Matrix (Correlation)</a:t>
            </a:r>
            <a:endParaRPr lang="en-KW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9E6586-B8EA-8F1A-6278-E75356F98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6031" y="1690688"/>
            <a:ext cx="5077770" cy="46619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F4A6FF-D21E-F048-6391-4E24B54AE5D9}"/>
              </a:ext>
            </a:extLst>
          </p:cNvPr>
          <p:cNvSpPr txBox="1"/>
          <p:nvPr/>
        </p:nvSpPr>
        <p:spPr>
          <a:xfrm>
            <a:off x="452387" y="1859339"/>
            <a:ext cx="58236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"Tribes" of the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We calculated how every stock moves in relation to every other stock.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Red Squares:</a:t>
            </a:r>
            <a:r>
              <a:rPr lang="en-US" dirty="0"/>
              <a:t> These are sectors (Tribes) moving together.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Blue Areas:</a:t>
            </a:r>
            <a:r>
              <a:rPr lang="en-US" dirty="0"/>
              <a:t> These are 'Anti-Correlations'—stocks that move opposite to each other.</a:t>
            </a:r>
          </a:p>
          <a:p>
            <a:endParaRPr lang="en-US" b="1" dirty="0"/>
          </a:p>
          <a:p>
            <a:r>
              <a:rPr lang="en-US" b="1" dirty="0"/>
              <a:t>Conclusion:</a:t>
            </a:r>
            <a:r>
              <a:rPr lang="en-US" dirty="0"/>
              <a:t> The market isn't random; it's highly structured into tight clusters of behavior."</a:t>
            </a:r>
          </a:p>
        </p:txBody>
      </p:sp>
    </p:spTree>
    <p:extLst>
      <p:ext uri="{BB962C8B-B14F-4D97-AF65-F5344CB8AC3E}">
        <p14:creationId xmlns:p14="http://schemas.microsoft.com/office/powerpoint/2010/main" val="216538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0CDE-401F-9C63-A92D-7A4C323D5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Market Factor (PCA)</a:t>
            </a:r>
            <a:endParaRPr lang="en-KW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E36F95-723B-1E55-4109-F0A180C52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10544"/>
            <a:ext cx="5829185" cy="32369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0C0307-60CF-28BA-8141-31222053BF63}"/>
              </a:ext>
            </a:extLst>
          </p:cNvPr>
          <p:cNvSpPr txBox="1"/>
          <p:nvPr/>
        </p:nvSpPr>
        <p:spPr>
          <a:xfrm>
            <a:off x="5926238" y="1690688"/>
            <a:ext cx="58567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Expectation: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Usually, in times of crisis (like 2008 or 2020), the first component explains 40% or 50% of the market. That is when 'everything moves together.</a:t>
            </a:r>
          </a:p>
          <a:p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Reality: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However, my data shows that right now, PC1 only explains about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12%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of the variance (the first dot).</a:t>
            </a:r>
          </a:p>
          <a:p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r>
              <a:rPr lang="en-US" b="1" i="0" dirty="0">
                <a:solidFill>
                  <a:srgbClr val="000000"/>
                </a:solidFill>
                <a:effectLst/>
              </a:rPr>
              <a:t>Conclusion: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US" b="0" i="1" dirty="0">
                <a:solidFill>
                  <a:srgbClr val="000000"/>
                </a:solidFill>
                <a:effectLst/>
              </a:rPr>
              <a:t>"This proves that the current market is </a:t>
            </a:r>
            <a:r>
              <a:rPr lang="en-US" dirty="0">
                <a:solidFill>
                  <a:srgbClr val="000000"/>
                </a:solidFill>
                <a:effectLst/>
              </a:rPr>
              <a:t>highly fragmented</a:t>
            </a:r>
            <a:r>
              <a:rPr lang="en-US" b="0" i="1" dirty="0">
                <a:solidFill>
                  <a:srgbClr val="000000"/>
                </a:solidFill>
                <a:effectLst/>
              </a:rPr>
              <a:t>. Stocks are trading on their own specific news rather than just following the macro-economic tide. It is a 'Stock Picker's Market.'"</a:t>
            </a:r>
            <a:endParaRPr lang="en-KW" dirty="0"/>
          </a:p>
        </p:txBody>
      </p:sp>
    </p:spTree>
    <p:extLst>
      <p:ext uri="{BB962C8B-B14F-4D97-AF65-F5344CB8AC3E}">
        <p14:creationId xmlns:p14="http://schemas.microsoft.com/office/powerpoint/2010/main" val="3563348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893F9-2BB4-58EC-ACC2-5D0EC9585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72" y="658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Whole vs. The Parts: Finding Signal in the Noise</a:t>
            </a:r>
            <a:endParaRPr lang="en-KW" sz="3600" dirty="0"/>
          </a:p>
        </p:txBody>
      </p:sp>
      <p:pic>
        <p:nvPicPr>
          <p:cNvPr id="5" name="Content Placeholder 4" descr="A comparison of art with pictures&#10;&#10;Description automatically generated with medium confidence">
            <a:extLst>
              <a:ext uri="{FF2B5EF4-FFF2-40B4-BE49-F238E27FC236}">
                <a16:creationId xmlns:a16="http://schemas.microsoft.com/office/drawing/2014/main" id="{F12AED27-90A1-5354-4682-8BB10EA2A5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9383"/>
          <a:stretch/>
        </p:blipFill>
        <p:spPr>
          <a:xfrm>
            <a:off x="1177243" y="1043173"/>
            <a:ext cx="9833658" cy="381094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1D3615-10A5-D48B-CC45-240CC30B452D}"/>
              </a:ext>
            </a:extLst>
          </p:cNvPr>
          <p:cNvSpPr txBox="1"/>
          <p:nvPr/>
        </p:nvSpPr>
        <p:spPr>
          <a:xfrm>
            <a:off x="150472" y="5189782"/>
            <a:ext cx="11887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If you look at a Pointillist painting up close all you see are random dots. It looks like noise. This is what a stock ticker looks like to the naked eye.</a:t>
            </a:r>
          </a:p>
          <a:p>
            <a:endParaRPr lang="en-US" b="0" i="0" dirty="0">
              <a:solidFill>
                <a:srgbClr val="000000"/>
              </a:solidFill>
              <a:effectLst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But if you use an algorithm to 'step back,' the dots resolve into a clear picture. You stop seeing random colors and start seeing shapes and figures.</a:t>
            </a:r>
          </a:p>
          <a:p>
            <a:endParaRPr lang="en-KW" dirty="0"/>
          </a:p>
        </p:txBody>
      </p:sp>
    </p:spTree>
    <p:extLst>
      <p:ext uri="{BB962C8B-B14F-4D97-AF65-F5344CB8AC3E}">
        <p14:creationId xmlns:p14="http://schemas.microsoft.com/office/powerpoint/2010/main" val="2435901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69E63-A8FF-7E38-679E-D92D6FC83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Market Map</a:t>
            </a:r>
            <a:endParaRPr lang="en-KW" dirty="0"/>
          </a:p>
        </p:txBody>
      </p:sp>
      <p:pic>
        <p:nvPicPr>
          <p:cNvPr id="5" name="Content Placeholder 4" descr="A graph with colorful dots&#10;&#10;Description automatically generated">
            <a:extLst>
              <a:ext uri="{FF2B5EF4-FFF2-40B4-BE49-F238E27FC236}">
                <a16:creationId xmlns:a16="http://schemas.microsoft.com/office/drawing/2014/main" id="{D3338D7D-797F-1477-D80D-39D40A575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1430" y="1362637"/>
            <a:ext cx="6608773" cy="528701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4A8D1C-ED61-C619-F22E-AE9F05E466B2}"/>
              </a:ext>
            </a:extLst>
          </p:cNvPr>
          <p:cNvSpPr txBox="1"/>
          <p:nvPr/>
        </p:nvSpPr>
        <p:spPr>
          <a:xfrm>
            <a:off x="111797" y="1690688"/>
            <a:ext cx="522711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This is the S&amp;P 500 compressed into 2D.</a:t>
            </a:r>
          </a:p>
          <a:p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Islands:</a:t>
            </a:r>
            <a:r>
              <a:rPr lang="en-US" dirty="0"/>
              <a:t> Notice how </a:t>
            </a:r>
            <a:r>
              <a:rPr lang="en-US" b="1" dirty="0"/>
              <a:t>Energy</a:t>
            </a:r>
            <a:r>
              <a:rPr lang="en-US" dirty="0"/>
              <a:t> stocks (Red dots) form a tight, isolated island. They live in their own world.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Outliers:</a:t>
            </a:r>
            <a:r>
              <a:rPr lang="en-US" dirty="0"/>
              <a:t> Look at </a:t>
            </a:r>
            <a:r>
              <a:rPr lang="en-US" b="1" dirty="0"/>
              <a:t>Tesla</a:t>
            </a:r>
            <a:r>
              <a:rPr lang="en-US" dirty="0"/>
              <a:t>. It doesn't sit with the other car companies; it sits closer to Tech. The map reveals the true nature of the company, not just its official label."</a:t>
            </a:r>
          </a:p>
          <a:p>
            <a:endParaRPr lang="en-KW" dirty="0"/>
          </a:p>
        </p:txBody>
      </p:sp>
    </p:spTree>
    <p:extLst>
      <p:ext uri="{BB962C8B-B14F-4D97-AF65-F5344CB8AC3E}">
        <p14:creationId xmlns:p14="http://schemas.microsoft.com/office/powerpoint/2010/main" val="2882141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41EDC-5FF2-1F53-3B43-C9CB1CBE1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Conclusion</a:t>
            </a:r>
            <a:endParaRPr lang="en-K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3E66D-7824-9BD2-86FB-613180016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The Myth:</a:t>
            </a:r>
            <a:r>
              <a:rPr lang="en-US" sz="2000" dirty="0"/>
              <a:t> Textbooks teach that markets are "Normal" and "Efficient."</a:t>
            </a:r>
          </a:p>
          <a:p>
            <a:r>
              <a:rPr lang="en-US" sz="2000" b="1" dirty="0"/>
              <a:t>The Reality:</a:t>
            </a:r>
            <a:r>
              <a:rPr lang="en-US" sz="2000" dirty="0"/>
              <a:t> Our data proves otherwise.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Risk is Underestimated:</a:t>
            </a:r>
            <a:r>
              <a:rPr lang="en-US" sz="2000" dirty="0"/>
              <a:t> "Fat Tails" show that crashes happen far more often than predicted.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Structure is Hidden:</a:t>
            </a:r>
            <a:r>
              <a:rPr lang="en-US" sz="2000" dirty="0"/>
              <a:t> Stocks don't move randomly; they move in rigid "Tribes" (Sectors) that we successfully mapped.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The Current Regime:</a:t>
            </a:r>
            <a:r>
              <a:rPr lang="en-US" sz="2000" dirty="0"/>
              <a:t> Our low PCA score (~12%) reveals we are currently in a </a:t>
            </a:r>
            <a:r>
              <a:rPr lang="en-US" sz="2000" b="1" dirty="0"/>
              <a:t>"Stock Picker's Market,"</a:t>
            </a:r>
            <a:r>
              <a:rPr lang="en-US" sz="2000" dirty="0"/>
              <a:t> where individual company performance matters more than the macro tide.</a:t>
            </a:r>
          </a:p>
          <a:p>
            <a:endParaRPr lang="en-KW" dirty="0"/>
          </a:p>
          <a:p>
            <a:pPr marL="0" indent="0" algn="ctr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"The market is not a random walk. It is a complex system with a shape, a structure, and a pulse."</a:t>
            </a:r>
            <a:endParaRPr lang="en-KW" b="1" dirty="0"/>
          </a:p>
        </p:txBody>
      </p:sp>
    </p:spTree>
    <p:extLst>
      <p:ext uri="{BB962C8B-B14F-4D97-AF65-F5344CB8AC3E}">
        <p14:creationId xmlns:p14="http://schemas.microsoft.com/office/powerpoint/2010/main" val="341059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683</Words>
  <Application>Microsoft Macintosh PowerPoint</Application>
  <PresentationFormat>Widescreen</PresentationFormat>
  <Paragraphs>55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-webkit-standard</vt:lpstr>
      <vt:lpstr>Aptos</vt:lpstr>
      <vt:lpstr>Aptos Display</vt:lpstr>
      <vt:lpstr>Arial</vt:lpstr>
      <vt:lpstr>Office Theme</vt:lpstr>
      <vt:lpstr>Visualizing the S&amp;P 500: A Quantitative Approach</vt:lpstr>
      <vt:lpstr>The Mission</vt:lpstr>
      <vt:lpstr>Data Integrity (The "Missingness" Map)</vt:lpstr>
      <vt:lpstr>Volatility &amp; Risk (The "Fat Tails")</vt:lpstr>
      <vt:lpstr>The Matrix (Correlation)</vt:lpstr>
      <vt:lpstr>The Market Factor (PCA)</vt:lpstr>
      <vt:lpstr>The Whole vs. The Parts: Finding Signal in the Noise</vt:lpstr>
      <vt:lpstr>The Market Map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Sannan, Yousef (Stud SRH-University)</dc:creator>
  <cp:lastModifiedBy>Sannan, Yousef (Stud SRH-University)</cp:lastModifiedBy>
  <cp:revision>3</cp:revision>
  <dcterms:created xsi:type="dcterms:W3CDTF">2026-02-09T15:34:15Z</dcterms:created>
  <dcterms:modified xsi:type="dcterms:W3CDTF">2026-02-09T22:47:35Z</dcterms:modified>
</cp:coreProperties>
</file>